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312" y="5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18015" y="91440"/>
            <a:ext cx="435292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rPr dirty="0"/>
              <a:t>JA BizTown 3.0 — Solution Architecture</a:t>
            </a: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B9EF202A-59AE-0CE9-2235-E4AB9180FAC6}"/>
              </a:ext>
            </a:extLst>
          </p:cNvPr>
          <p:cNvGrpSpPr/>
          <p:nvPr/>
        </p:nvGrpSpPr>
        <p:grpSpPr>
          <a:xfrm>
            <a:off x="182880" y="548640"/>
            <a:ext cx="11823192" cy="6217920"/>
            <a:chOff x="182880" y="548640"/>
            <a:chExt cx="11823192" cy="6217920"/>
          </a:xfrm>
        </p:grpSpPr>
        <p:sp>
          <p:nvSpPr>
            <p:cNvPr id="3" name="Rounded Rectangle 2"/>
            <p:cNvSpPr/>
            <p:nvPr/>
          </p:nvSpPr>
          <p:spPr>
            <a:xfrm>
              <a:off x="182880" y="548640"/>
              <a:ext cx="11823192" cy="1097280"/>
            </a:xfrm>
            <a:prstGeom prst="roundRect">
              <a:avLst/>
            </a:prstGeom>
            <a:solidFill>
              <a:srgbClr val="E3F2FD"/>
            </a:solidFill>
            <a:ln>
              <a:solidFill>
                <a:srgbClr val="0078D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274320" y="594360"/>
              <a:ext cx="45720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000" b="1">
                  <a:solidFill>
                    <a:srgbClr val="0D2137"/>
                  </a:solidFill>
                </a:defRPr>
              </a:pPr>
              <a:r>
                <a:t>CLIENT &amp; DEVICE LAYER | REACT NATIVE · EXPO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365760" y="777240"/>
              <a:ext cx="1280160" cy="82296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78D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65760" y="868680"/>
              <a:ext cx="128016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/>
              </a:pPr>
              <a:r>
                <a:t>JA Student Tablet</a:t>
              </a:r>
            </a:p>
            <a:p>
              <a:pPr algn="ctr">
                <a:defRPr sz="700">
                  <a:solidFill>
                    <a:srgbClr val="505050"/>
                  </a:solidFill>
                </a:defRPr>
              </a:pPr>
              <a:r>
                <a:t>React Native + Expo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1828800" y="777240"/>
              <a:ext cx="1280160" cy="82296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78D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828800" y="868680"/>
              <a:ext cx="128016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/>
              </a:pPr>
              <a:r>
                <a:t>Volunteer Tablet</a:t>
              </a:r>
            </a:p>
            <a:p>
              <a:pPr algn="ctr">
                <a:defRPr sz="700">
                  <a:solidFill>
                    <a:srgbClr val="505050"/>
                  </a:solidFill>
                </a:defRPr>
              </a:pPr>
              <a:r>
                <a:t>Unified POS UI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3291840" y="777240"/>
              <a:ext cx="1280160" cy="82296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78D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291840" y="868680"/>
              <a:ext cx="128016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/>
              </a:pPr>
              <a:r>
                <a:t>Teacher Tablet</a:t>
              </a:r>
            </a:p>
            <a:p>
              <a:pPr algn="ctr">
                <a:defRPr sz="700">
                  <a:solidFill>
                    <a:srgbClr val="505050"/>
                  </a:solidFill>
                </a:defRPr>
              </a:pPr>
              <a:r>
                <a:t>Monitoring Hub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754880" y="777240"/>
              <a:ext cx="1280160" cy="82296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78D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754880" y="868680"/>
              <a:ext cx="128016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/>
              </a:pPr>
              <a:r>
                <a:t>App Distribution</a:t>
              </a:r>
            </a:p>
            <a:p>
              <a:pPr algn="ctr">
                <a:defRPr sz="700">
                  <a:solidFill>
                    <a:srgbClr val="505050"/>
                  </a:solidFill>
                </a:defRPr>
              </a:pPr>
              <a:r>
                <a:t>MDM / Store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217920" y="777240"/>
              <a:ext cx="1280160" cy="82296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78D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217920" y="868680"/>
              <a:ext cx="128016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/>
              </a:pPr>
              <a:r>
                <a:t>i18next + XLF</a:t>
              </a:r>
            </a:p>
            <a:p>
              <a:pPr algn="ctr">
                <a:defRPr sz="700">
                  <a:solidFill>
                    <a:srgbClr val="505050"/>
                  </a:solidFill>
                </a:defRPr>
              </a:pPr>
              <a:r>
                <a:t>Offline Discovery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680960" y="777240"/>
              <a:ext cx="1280160" cy="82296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78D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680960" y="868680"/>
              <a:ext cx="128016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/>
              </a:pPr>
              <a:r>
                <a:t>IndexedDB</a:t>
              </a:r>
            </a:p>
            <a:p>
              <a:pPr algn="ctr">
                <a:defRPr sz="700">
                  <a:solidFill>
                    <a:srgbClr val="505050"/>
                  </a:solidFill>
                </a:defRPr>
              </a:pPr>
              <a:r>
                <a:t>SQLite Cache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9144000" y="777240"/>
              <a:ext cx="1280160" cy="82296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78D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144000" y="868680"/>
              <a:ext cx="128016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/>
              </a:pPr>
              <a:r>
                <a:t>Offline Queue</a:t>
              </a:r>
            </a:p>
            <a:p>
              <a:pPr algn="ctr">
                <a:defRPr sz="700">
                  <a:solidFill>
                    <a:srgbClr val="505050"/>
                  </a:solidFill>
                </a:defRPr>
              </a:pPr>
              <a:r>
                <a:t>FIFO Sync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0607040" y="777240"/>
              <a:ext cx="1280160" cy="82296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78D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0607040" y="868680"/>
              <a:ext cx="128016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/>
              </a:pPr>
              <a:r>
                <a:t>Lottie Animation</a:t>
              </a:r>
            </a:p>
            <a:p>
              <a:pPr algn="ctr">
                <a:defRPr sz="700">
                  <a:solidFill>
                    <a:srgbClr val="505050"/>
                  </a:solidFill>
                </a:defRPr>
              </a:pPr>
              <a:r>
                <a:t>Offline Assets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182880" y="1737360"/>
              <a:ext cx="11823192" cy="1097280"/>
            </a:xfrm>
            <a:prstGeom prst="roundRect">
              <a:avLst/>
            </a:prstGeom>
            <a:solidFill>
              <a:srgbClr val="FFF3E0"/>
            </a:solidFill>
            <a:ln>
              <a:solidFill>
                <a:srgbClr val="FF6D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74320" y="1783080"/>
              <a:ext cx="45720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000" b="1">
                  <a:solidFill>
                    <a:srgbClr val="0D2137"/>
                  </a:solidFill>
                </a:defRPr>
              </a:pPr>
              <a:r>
                <a:t>PERIMETER SECURITY | ENTRA B2C · KEY VAULT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365760" y="1965960"/>
              <a:ext cx="1280160" cy="82296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6D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65760" y="2057400"/>
              <a:ext cx="128016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/>
              </a:pPr>
              <a:r>
                <a:t>Azure Front Door</a:t>
              </a:r>
            </a:p>
            <a:p>
              <a:pPr algn="ctr">
                <a:defRPr sz="700">
                  <a:solidFill>
                    <a:srgbClr val="505050"/>
                  </a:solidFill>
                </a:defRPr>
              </a:pPr>
              <a:r>
                <a:t>Global Entry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828800" y="1965960"/>
              <a:ext cx="1280160" cy="82296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6D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828800" y="2057400"/>
              <a:ext cx="128016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/>
              </a:pPr>
              <a:r>
                <a:t>WAF (OWASP)</a:t>
              </a:r>
            </a:p>
            <a:p>
              <a:pPr algn="ctr">
                <a:defRPr sz="700">
                  <a:solidFill>
                    <a:srgbClr val="505050"/>
                  </a:solidFill>
                </a:defRPr>
              </a:pPr>
              <a:r>
                <a:t>Threat Filtering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3291840" y="1965960"/>
              <a:ext cx="1280160" cy="82296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6D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291840" y="2057400"/>
              <a:ext cx="128016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/>
              </a:pPr>
              <a:r>
                <a:t>Microsoft Entra</a:t>
              </a:r>
            </a:p>
            <a:p>
              <a:pPr algn="ctr">
                <a:defRPr sz="700">
                  <a:solidFill>
                    <a:srgbClr val="505050"/>
                  </a:solidFill>
                </a:defRPr>
              </a:pPr>
              <a:r>
                <a:t>QR/PIN Auth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4754880" y="1965960"/>
              <a:ext cx="1280160" cy="82296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6D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754880" y="2057400"/>
              <a:ext cx="128016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/>
              </a:pPr>
              <a:r>
                <a:rPr dirty="0"/>
                <a:t>Azure Key Vault</a:t>
              </a:r>
            </a:p>
            <a:p>
              <a:pPr algn="ctr">
                <a:defRPr sz="700">
                  <a:solidFill>
                    <a:srgbClr val="505050"/>
                  </a:solidFill>
                </a:defRPr>
              </a:pPr>
              <a:r>
                <a:rPr dirty="0"/>
                <a:t>Secrets / CMK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6217920" y="1965960"/>
              <a:ext cx="1280160" cy="82296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6D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217920" y="2057400"/>
              <a:ext cx="128016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/>
              </a:pPr>
              <a:r>
                <a:t>Azure APIM</a:t>
              </a:r>
            </a:p>
            <a:p>
              <a:pPr algn="ctr">
                <a:defRPr sz="700">
                  <a:solidFill>
                    <a:srgbClr val="505050"/>
                  </a:solidFill>
                </a:defRPr>
              </a:pPr>
              <a:r>
                <a:t>Rate Limiting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7680960" y="1965960"/>
              <a:ext cx="1280160" cy="82296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6D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680960" y="2057400"/>
              <a:ext cx="128016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/>
              </a:pPr>
              <a:r>
                <a:t>Azure Policy</a:t>
              </a:r>
            </a:p>
            <a:p>
              <a:pPr algn="ctr">
                <a:defRPr sz="700">
                  <a:solidFill>
                    <a:srgbClr val="505050"/>
                  </a:solidFill>
                </a:defRPr>
              </a:pPr>
              <a:r>
                <a:t>RBAC Rules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9144000" y="1965960"/>
              <a:ext cx="1280160" cy="82296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6D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9144000" y="2057400"/>
              <a:ext cx="128016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/>
              </a:pPr>
              <a:r>
                <a:t>Azure DevOps</a:t>
              </a:r>
            </a:p>
            <a:p>
              <a:pPr algn="ctr">
                <a:defRPr sz="700">
                  <a:solidFill>
                    <a:srgbClr val="505050"/>
                  </a:solidFill>
                </a:defRPr>
              </a:pPr>
              <a:r>
                <a:t>CI/CD Pipeline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10607040" y="1965960"/>
              <a:ext cx="1280160" cy="82296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6D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0607040" y="2057400"/>
              <a:ext cx="128016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/>
              </a:pPr>
              <a:r>
                <a:t>Azure Monitor</a:t>
              </a:r>
            </a:p>
            <a:p>
              <a:pPr algn="ctr">
                <a:defRPr sz="700">
                  <a:solidFill>
                    <a:srgbClr val="505050"/>
                  </a:solidFill>
                </a:defRPr>
              </a:pPr>
              <a:r>
                <a:t>30-Day Retention</a:t>
              </a:r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182880" y="2926080"/>
              <a:ext cx="11823192" cy="1097280"/>
            </a:xfrm>
            <a:prstGeom prst="roundRect">
              <a:avLst/>
            </a:prstGeom>
            <a:solidFill>
              <a:srgbClr val="E3F2FD"/>
            </a:solidFill>
            <a:ln>
              <a:solidFill>
                <a:srgbClr val="0078D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274320" y="2971800"/>
              <a:ext cx="45720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000" b="1">
                  <a:solidFill>
                    <a:srgbClr val="0D2137"/>
                  </a:solidFill>
                </a:defRPr>
              </a:pPr>
              <a:r>
                <a:t>COMPUTE LAYER | AKS · FUNCTIONS · SIGNALR</a:t>
              </a: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365760" y="3154680"/>
              <a:ext cx="1280160" cy="82296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78D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365760" y="3246120"/>
              <a:ext cx="128016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/>
              </a:pPr>
              <a:r>
                <a:rPr dirty="0"/>
                <a:t>Microsoft AKS</a:t>
              </a:r>
            </a:p>
            <a:p>
              <a:pPr algn="ctr">
                <a:defRPr sz="700">
                  <a:solidFill>
                    <a:srgbClr val="505050"/>
                  </a:solidFill>
                </a:defRPr>
              </a:pPr>
              <a:r>
                <a:rPr dirty="0"/>
                <a:t>Microservices</a:t>
              </a: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2011680" y="3154680"/>
              <a:ext cx="1280160" cy="82296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78D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2011680" y="3246120"/>
              <a:ext cx="128016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/>
              </a:pPr>
              <a:r>
                <a:rPr dirty="0"/>
                <a:t>Azure Functions</a:t>
              </a:r>
            </a:p>
            <a:p>
              <a:pPr algn="ctr">
                <a:defRPr sz="700">
                  <a:solidFill>
                    <a:srgbClr val="505050"/>
                  </a:solidFill>
                </a:defRPr>
              </a:pPr>
              <a:r>
                <a:rPr dirty="0"/>
                <a:t>Serverless Reconciliation</a:t>
              </a: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3657600" y="3154680"/>
              <a:ext cx="1280160" cy="82296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78D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3657600" y="3246120"/>
              <a:ext cx="128016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/>
              </a:pPr>
              <a:r>
                <a:t>Azure SignalR</a:t>
              </a:r>
            </a:p>
            <a:p>
              <a:pPr algn="ctr">
                <a:defRPr sz="700">
                  <a:solidFill>
                    <a:srgbClr val="505050"/>
                  </a:solidFill>
                </a:defRPr>
              </a:pPr>
              <a:r>
                <a:t>Real-time Push</a:t>
              </a: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5303520" y="3154680"/>
              <a:ext cx="1280160" cy="82296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78D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5303520" y="3246120"/>
              <a:ext cx="128016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/>
              </a:pPr>
              <a:r>
                <a:t>Azure Service Bus</a:t>
              </a:r>
            </a:p>
            <a:p>
              <a:pPr algn="ctr">
                <a:defRPr sz="700">
                  <a:solidFill>
                    <a:srgbClr val="505050"/>
                  </a:solidFill>
                </a:defRPr>
              </a:pPr>
              <a:r>
                <a:t>Event Queue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6949440" y="3154680"/>
              <a:ext cx="1280160" cy="822960"/>
            </a:xfrm>
            <a:prstGeom prst="rect">
              <a:avLst/>
            </a:prstGeom>
            <a:solidFill>
              <a:srgbClr val="E1F5FE"/>
            </a:solidFill>
            <a:ln>
              <a:solidFill>
                <a:srgbClr val="0078D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6949440" y="3246120"/>
              <a:ext cx="128016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/>
              </a:pPr>
              <a:r>
                <a:rPr dirty="0"/>
                <a:t>Azure Event Hubs</a:t>
              </a:r>
            </a:p>
            <a:p>
              <a:pPr algn="ctr">
                <a:defRPr sz="700">
                  <a:solidFill>
                    <a:srgbClr val="505050"/>
                  </a:solidFill>
                </a:defRPr>
              </a:pPr>
              <a:r>
                <a:rPr dirty="0"/>
                <a:t>High-Scale Ingestion</a:t>
              </a: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8595360" y="3154680"/>
              <a:ext cx="1280160" cy="82296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78D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8595360" y="3246120"/>
              <a:ext cx="128016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/>
              </a:pPr>
              <a:r>
                <a:t>Azure CDN</a:t>
              </a:r>
            </a:p>
            <a:p>
              <a:pPr algn="ctr">
                <a:defRPr sz="700">
                  <a:solidFill>
                    <a:srgbClr val="505050"/>
                  </a:solidFill>
                </a:defRPr>
              </a:pPr>
              <a:r>
                <a:t>Media Delivery</a:t>
              </a: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10241280" y="3154680"/>
              <a:ext cx="1280160" cy="82296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78D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10241280" y="3246120"/>
              <a:ext cx="128016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/>
              </a:pPr>
              <a:r>
                <a:rPr dirty="0"/>
                <a:t>Azure Logic App</a:t>
              </a:r>
            </a:p>
            <a:p>
              <a:pPr algn="ctr">
                <a:defRPr sz="700">
                  <a:solidFill>
                    <a:srgbClr val="505050"/>
                  </a:solidFill>
                </a:defRPr>
              </a:pPr>
              <a:r>
                <a:rPr dirty="0"/>
                <a:t>Workflows</a:t>
              </a:r>
            </a:p>
          </p:txBody>
        </p:sp>
        <p:sp>
          <p:nvSpPr>
            <p:cNvPr id="55" name="Rounded Rectangle 54"/>
            <p:cNvSpPr/>
            <p:nvPr/>
          </p:nvSpPr>
          <p:spPr>
            <a:xfrm>
              <a:off x="182880" y="4114800"/>
              <a:ext cx="11823192" cy="1005840"/>
            </a:xfrm>
            <a:prstGeom prst="roundRect">
              <a:avLst/>
            </a:prstGeom>
            <a:solidFill>
              <a:srgbClr val="EDE7F6"/>
            </a:solidFill>
            <a:ln>
              <a:solidFill>
                <a:srgbClr val="7B1F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274320" y="4160520"/>
              <a:ext cx="45720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000" b="1">
                  <a:solidFill>
                    <a:srgbClr val="0D2137"/>
                  </a:solidFill>
                </a:defRPr>
              </a:pPr>
              <a:r>
                <a:t>AI INNOVATION LAYER | GEN AI</a:t>
              </a: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4114800" y="4251960"/>
              <a:ext cx="1280160" cy="82296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7B1F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4114800" y="4343400"/>
              <a:ext cx="128016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/>
              </a:pPr>
              <a:r>
                <a:t>Azure OpenAI</a:t>
              </a:r>
            </a:p>
            <a:p>
              <a:pPr algn="ctr">
                <a:defRPr sz="700">
                  <a:solidFill>
                    <a:srgbClr val="505050"/>
                  </a:solidFill>
                </a:defRPr>
              </a:pPr>
              <a:r>
                <a:t>GPT-4o Slogans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5577840" y="4251960"/>
              <a:ext cx="1280160" cy="82296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7B1F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5577840" y="4343400"/>
              <a:ext cx="128016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/>
              </a:pPr>
              <a:r>
                <a:t>DALL-E 3</a:t>
              </a:r>
            </a:p>
            <a:p>
              <a:pPr algn="ctr">
                <a:defRPr sz="700">
                  <a:solidFill>
                    <a:srgbClr val="505050"/>
                  </a:solidFill>
                </a:defRPr>
              </a:pPr>
              <a:r>
                <a:t>Banner Generation</a:t>
              </a:r>
            </a:p>
          </p:txBody>
        </p:sp>
        <p:sp>
          <p:nvSpPr>
            <p:cNvPr id="61" name="Rectangle 60"/>
            <p:cNvSpPr/>
            <p:nvPr/>
          </p:nvSpPr>
          <p:spPr>
            <a:xfrm>
              <a:off x="7040880" y="4251960"/>
              <a:ext cx="1280160" cy="82296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7B1F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7040880" y="4343400"/>
              <a:ext cx="128016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/>
              </a:pPr>
              <a:r>
                <a:t>App Insights</a:t>
              </a:r>
            </a:p>
            <a:p>
              <a:pPr algn="ctr">
                <a:defRPr sz="700">
                  <a:solidFill>
                    <a:srgbClr val="505050"/>
                  </a:solidFill>
                </a:defRPr>
              </a:pPr>
              <a:r>
                <a:t>AI Telemetry</a:t>
              </a:r>
            </a:p>
          </p:txBody>
        </p:sp>
        <p:sp>
          <p:nvSpPr>
            <p:cNvPr id="63" name="Rounded Rectangle 62"/>
            <p:cNvSpPr/>
            <p:nvPr/>
          </p:nvSpPr>
          <p:spPr>
            <a:xfrm>
              <a:off x="182880" y="5212080"/>
              <a:ext cx="11823192" cy="1005840"/>
            </a:xfrm>
            <a:prstGeom prst="roundRect">
              <a:avLst/>
            </a:prstGeom>
            <a:solidFill>
              <a:srgbClr val="FFEBEE"/>
            </a:solidFill>
            <a:ln>
              <a:solidFill>
                <a:srgbClr val="B854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274320" y="5257800"/>
              <a:ext cx="45720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000" b="1">
                  <a:solidFill>
                    <a:srgbClr val="0D2137"/>
                  </a:solidFill>
                </a:defRPr>
              </a:pPr>
              <a:r>
                <a:t>DATA &amp; CONTENT LAYER | SQL · CMS · BLOB</a:t>
              </a:r>
            </a:p>
          </p:txBody>
        </p:sp>
        <p:sp>
          <p:nvSpPr>
            <p:cNvPr id="65" name="Rectangle 64"/>
            <p:cNvSpPr/>
            <p:nvPr/>
          </p:nvSpPr>
          <p:spPr>
            <a:xfrm>
              <a:off x="914400" y="5349240"/>
              <a:ext cx="1280160" cy="82296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B854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914400" y="5440679"/>
              <a:ext cx="128016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/>
              </a:pPr>
              <a:r>
                <a:t>Azure SQL</a:t>
              </a:r>
            </a:p>
            <a:p>
              <a:pPr algn="ctr">
                <a:defRPr sz="700">
                  <a:solidFill>
                    <a:srgbClr val="505050"/>
                  </a:solidFill>
                </a:defRPr>
              </a:pPr>
              <a:r>
                <a:t>Simulation Ledger</a:t>
              </a:r>
            </a:p>
          </p:txBody>
        </p:sp>
        <p:sp>
          <p:nvSpPr>
            <p:cNvPr id="67" name="Rectangle 66"/>
            <p:cNvSpPr/>
            <p:nvPr/>
          </p:nvSpPr>
          <p:spPr>
            <a:xfrm>
              <a:off x="2560320" y="5349240"/>
              <a:ext cx="1280160" cy="822960"/>
            </a:xfrm>
            <a:prstGeom prst="rect">
              <a:avLst/>
            </a:prstGeom>
            <a:solidFill>
              <a:srgbClr val="FFEBEE"/>
            </a:solidFill>
            <a:ln>
              <a:solidFill>
                <a:srgbClr val="B854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2560320" y="5440679"/>
              <a:ext cx="128016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/>
              </a:pPr>
              <a:r>
                <a:t>CMS Database</a:t>
              </a:r>
            </a:p>
            <a:p>
              <a:pPr algn="ctr">
                <a:defRPr sz="700">
                  <a:solidFill>
                    <a:srgbClr val="505050"/>
                  </a:solidFill>
                </a:defRPr>
              </a:pPr>
              <a:r>
                <a:t>Headless Backend</a:t>
              </a:r>
            </a:p>
          </p:txBody>
        </p:sp>
        <p:sp>
          <p:nvSpPr>
            <p:cNvPr id="69" name="Rectangle 68"/>
            <p:cNvSpPr/>
            <p:nvPr/>
          </p:nvSpPr>
          <p:spPr>
            <a:xfrm>
              <a:off x="4206240" y="5349240"/>
              <a:ext cx="1280160" cy="82296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B854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4206240" y="5440679"/>
              <a:ext cx="128016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/>
              </a:pPr>
              <a:r>
                <a:t>Azure Blob</a:t>
              </a:r>
            </a:p>
            <a:p>
              <a:pPr algn="ctr">
                <a:defRPr sz="700">
                  <a:solidFill>
                    <a:srgbClr val="505050"/>
                  </a:solidFill>
                </a:defRPr>
              </a:pPr>
              <a:r>
                <a:t>Media Assets</a:t>
              </a:r>
            </a:p>
          </p:txBody>
        </p:sp>
        <p:sp>
          <p:nvSpPr>
            <p:cNvPr id="71" name="Rectangle 70"/>
            <p:cNvSpPr/>
            <p:nvPr/>
          </p:nvSpPr>
          <p:spPr>
            <a:xfrm>
              <a:off x="5852160" y="5349240"/>
              <a:ext cx="1280160" cy="82296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B854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5852160" y="5440679"/>
              <a:ext cx="128016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/>
              </a:pPr>
              <a:r>
                <a:t>Azure Redis</a:t>
              </a:r>
            </a:p>
            <a:p>
              <a:pPr algn="ctr">
                <a:defRPr sz="700">
                  <a:solidFill>
                    <a:srgbClr val="505050"/>
                  </a:solidFill>
                </a:defRPr>
              </a:pPr>
              <a:r>
                <a:t>Live Cache</a:t>
              </a:r>
            </a:p>
          </p:txBody>
        </p:sp>
        <p:sp>
          <p:nvSpPr>
            <p:cNvPr id="73" name="Rectangle 72"/>
            <p:cNvSpPr/>
            <p:nvPr/>
          </p:nvSpPr>
          <p:spPr>
            <a:xfrm>
              <a:off x="7498079" y="5349240"/>
              <a:ext cx="1280160" cy="822960"/>
            </a:xfrm>
            <a:prstGeom prst="rect">
              <a:avLst/>
            </a:prstGeom>
            <a:solidFill>
              <a:srgbClr val="FFEBEE"/>
            </a:solidFill>
            <a:ln>
              <a:solidFill>
                <a:srgbClr val="B854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7498079" y="5440679"/>
              <a:ext cx="128016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/>
              </a:pPr>
              <a:r>
                <a:t>Headless CMS</a:t>
              </a:r>
            </a:p>
            <a:p>
              <a:pPr algn="ctr">
                <a:defRPr sz="700">
                  <a:solidFill>
                    <a:srgbClr val="505050"/>
                  </a:solidFill>
                </a:defRPr>
              </a:pPr>
              <a:r>
                <a:t>Content Layouts</a:t>
              </a:r>
            </a:p>
          </p:txBody>
        </p:sp>
        <p:sp>
          <p:nvSpPr>
            <p:cNvPr id="75" name="Rectangle 74"/>
            <p:cNvSpPr/>
            <p:nvPr/>
          </p:nvSpPr>
          <p:spPr>
            <a:xfrm>
              <a:off x="9144000" y="5349240"/>
              <a:ext cx="1280160" cy="82296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B854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9144000" y="5440679"/>
              <a:ext cx="128016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/>
              </a:pPr>
              <a:r>
                <a:t>SQL Geo-Rep</a:t>
              </a:r>
            </a:p>
            <a:p>
              <a:pPr algn="ctr">
                <a:defRPr sz="700">
                  <a:solidFill>
                    <a:srgbClr val="505050"/>
                  </a:solidFill>
                </a:defRPr>
              </a:pPr>
              <a:r>
                <a:t>DR Support</a:t>
              </a:r>
            </a:p>
          </p:txBody>
        </p:sp>
        <p:sp>
          <p:nvSpPr>
            <p:cNvPr id="77" name="Rounded Rectangle 76"/>
            <p:cNvSpPr/>
            <p:nvPr/>
          </p:nvSpPr>
          <p:spPr>
            <a:xfrm>
              <a:off x="182880" y="6309360"/>
              <a:ext cx="11823192" cy="457200"/>
            </a:xfrm>
            <a:prstGeom prst="roundRect">
              <a:avLst/>
            </a:prstGeom>
            <a:solidFill>
              <a:srgbClr val="F1F8E9"/>
            </a:solidFill>
            <a:ln>
              <a:solidFill>
                <a:srgbClr val="43A04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274320" y="6355080"/>
              <a:ext cx="45720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000" b="1">
                  <a:solidFill>
                    <a:srgbClr val="0D2137"/>
                  </a:solidFill>
                </a:defRPr>
              </a:pPr>
              <a:r>
                <a:t>OBSERVABILITY &amp; COMPLIANCE</a:t>
              </a:r>
            </a:p>
          </p:txBody>
        </p:sp>
        <p:sp>
          <p:nvSpPr>
            <p:cNvPr id="79" name="Rectangle 78"/>
            <p:cNvSpPr/>
            <p:nvPr/>
          </p:nvSpPr>
          <p:spPr>
            <a:xfrm>
              <a:off x="4114800" y="6400800"/>
              <a:ext cx="1463040" cy="32004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43A04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800" b="1"/>
              </a:pPr>
              <a:r>
                <a:rPr dirty="0"/>
                <a:t>Azure Monitor</a:t>
              </a:r>
            </a:p>
          </p:txBody>
        </p:sp>
        <p:sp>
          <p:nvSpPr>
            <p:cNvPr id="80" name="Rectangle 79"/>
            <p:cNvSpPr/>
            <p:nvPr/>
          </p:nvSpPr>
          <p:spPr>
            <a:xfrm>
              <a:off x="5760720" y="6400800"/>
              <a:ext cx="1463040" cy="32004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43A04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800" b="1"/>
              </a:pPr>
              <a:r>
                <a:rPr dirty="0"/>
                <a:t>Log Analytics</a:t>
              </a:r>
            </a:p>
          </p:txBody>
        </p:sp>
        <p:sp>
          <p:nvSpPr>
            <p:cNvPr id="81" name="Rectangle 80"/>
            <p:cNvSpPr/>
            <p:nvPr/>
          </p:nvSpPr>
          <p:spPr>
            <a:xfrm>
              <a:off x="7406640" y="6400800"/>
              <a:ext cx="1463040" cy="32004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43A04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800" b="1"/>
              </a:pPr>
              <a:r>
                <a:rPr dirty="0"/>
                <a:t>COPPA Aligned</a:t>
              </a:r>
            </a:p>
          </p:txBody>
        </p:sp>
        <p:sp>
          <p:nvSpPr>
            <p:cNvPr id="82" name="Rectangle 81"/>
            <p:cNvSpPr/>
            <p:nvPr/>
          </p:nvSpPr>
          <p:spPr>
            <a:xfrm>
              <a:off x="9052560" y="6400800"/>
              <a:ext cx="1463040" cy="32004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43A04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800" b="1"/>
              </a:pPr>
              <a:r>
                <a:rPr dirty="0"/>
                <a:t>FERPA Aligned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D2137"/>
                </a:solidFill>
              </a:defRPr>
            </a:pPr>
            <a:r>
              <a:t>The Scrum Spiral: Iterative Sprints within a Release Cycle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6516" y="4663440"/>
            <a:ext cx="1645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- Planning</a:t>
            </a:r>
            <a:br/>
            <a:r>
              <a:t>- Daily Standup</a:t>
            </a:r>
            <a:br/>
            <a:r>
              <a:t>- Review/Retro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3CFD027-41E0-67DC-EC5F-41CB066834E4}"/>
              </a:ext>
            </a:extLst>
          </p:cNvPr>
          <p:cNvGrpSpPr/>
          <p:nvPr/>
        </p:nvGrpSpPr>
        <p:grpSpPr>
          <a:xfrm>
            <a:off x="1346756" y="869672"/>
            <a:ext cx="10084838" cy="5303520"/>
            <a:chOff x="206188" y="914400"/>
            <a:chExt cx="11823192" cy="5303520"/>
          </a:xfrm>
        </p:grpSpPr>
        <p:sp>
          <p:nvSpPr>
            <p:cNvPr id="3" name="Rectangle 2"/>
            <p:cNvSpPr/>
            <p:nvPr/>
          </p:nvSpPr>
          <p:spPr>
            <a:xfrm>
              <a:off x="206188" y="914400"/>
              <a:ext cx="11823192" cy="530352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E6E6E6"/>
              </a:solidFill>
              <a:prstDash val="sys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solidFill>
                  <a:schemeClr val="tx1"/>
                </a:solidFill>
              </a:endParaRPr>
            </a:p>
          </p:txBody>
        </p:sp>
        <p:sp>
          <p:nvSpPr>
            <p:cNvPr id="5" name="Rectangle 4"/>
            <p:cNvSpPr/>
            <p:nvPr/>
          </p:nvSpPr>
          <p:spPr>
            <a:xfrm>
              <a:off x="365760" y="2286000"/>
              <a:ext cx="1097280" cy="2286000"/>
            </a:xfrm>
            <a:prstGeom prst="rect">
              <a:avLst/>
            </a:prstGeom>
            <a:solidFill>
              <a:srgbClr val="E3F2FD"/>
            </a:solidFill>
            <a:ln>
              <a:solidFill>
                <a:srgbClr val="0078D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900" b="1"/>
              </a:pPr>
              <a:r>
                <a:rPr dirty="0">
                  <a:solidFill>
                    <a:schemeClr val="tx1"/>
                  </a:solidFill>
                  <a:latin typeface="Inter Light"/>
                </a:rPr>
                <a:t>PRODUCT</a:t>
              </a:r>
              <a:br>
                <a:rPr dirty="0">
                  <a:solidFill>
                    <a:schemeClr val="tx1"/>
                  </a:solidFill>
                  <a:latin typeface="Inter Light"/>
                </a:rPr>
              </a:br>
              <a:r>
                <a:rPr dirty="0">
                  <a:solidFill>
                    <a:schemeClr val="tx1"/>
                  </a:solidFill>
                  <a:latin typeface="Inter Light"/>
                </a:rPr>
                <a:t>BACKLOG</a:t>
              </a:r>
            </a:p>
          </p:txBody>
        </p:sp>
        <p:sp>
          <p:nvSpPr>
            <p:cNvPr id="6" name="Block Arc 5"/>
            <p:cNvSpPr/>
            <p:nvPr/>
          </p:nvSpPr>
          <p:spPr>
            <a:xfrm rot="5400000">
              <a:off x="1620074" y="2011680"/>
              <a:ext cx="2560320" cy="2560320"/>
            </a:xfrm>
            <a:prstGeom prst="blockArc">
              <a:avLst/>
            </a:prstGeom>
            <a:solidFill>
              <a:srgbClr val="0078D4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455587" y="2926080"/>
              <a:ext cx="889293" cy="27699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200" b="1"/>
              </a:pPr>
              <a:r>
                <a:rPr dirty="0">
                  <a:latin typeface="Inter Light"/>
                </a:rPr>
                <a:t>SPRINT 1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501273" y="4663440"/>
              <a:ext cx="956948" cy="46166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800"/>
              </a:pPr>
              <a:r>
                <a:rPr dirty="0">
                  <a:latin typeface="Inter Light"/>
                </a:rPr>
                <a:t>- Planning</a:t>
              </a:r>
              <a:br>
                <a:rPr dirty="0">
                  <a:latin typeface="Inter Light"/>
                </a:rPr>
              </a:br>
              <a:r>
                <a:rPr dirty="0">
                  <a:latin typeface="Inter Light"/>
                </a:rPr>
                <a:t>- Daily Standup</a:t>
              </a:r>
              <a:br>
                <a:rPr dirty="0">
                  <a:latin typeface="Inter Light"/>
                </a:rPr>
              </a:br>
              <a:r>
                <a:rPr dirty="0">
                  <a:latin typeface="Inter Light"/>
                </a:rPr>
                <a:t>- Review/Retro</a:t>
              </a:r>
            </a:p>
          </p:txBody>
        </p:sp>
        <p:sp>
          <p:nvSpPr>
            <p:cNvPr id="9" name="Block Arc 8"/>
            <p:cNvSpPr/>
            <p:nvPr/>
          </p:nvSpPr>
          <p:spPr>
            <a:xfrm rot="5400000">
              <a:off x="4085968" y="2011680"/>
              <a:ext cx="2560320" cy="2560320"/>
            </a:xfrm>
            <a:prstGeom prst="blockArc">
              <a:avLst/>
            </a:prstGeom>
            <a:solidFill>
              <a:srgbClr val="0078D4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575970" y="2926080"/>
              <a:ext cx="130302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200" b="1"/>
              </a:pPr>
              <a:r>
                <a:rPr dirty="0">
                  <a:latin typeface="Inter Light"/>
                </a:rPr>
                <a:t>SPRINT 2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011895" y="4663440"/>
              <a:ext cx="956948" cy="46166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800"/>
              </a:pPr>
              <a:r>
                <a:rPr dirty="0">
                  <a:latin typeface="Inter Light"/>
                </a:rPr>
                <a:t>- Planning</a:t>
              </a:r>
              <a:br>
                <a:rPr dirty="0">
                  <a:latin typeface="Inter Light"/>
                </a:rPr>
              </a:br>
              <a:r>
                <a:rPr dirty="0">
                  <a:latin typeface="Inter Light"/>
                </a:rPr>
                <a:t>- Daily Standup</a:t>
              </a:r>
              <a:br>
                <a:rPr dirty="0">
                  <a:latin typeface="Inter Light"/>
                </a:rPr>
              </a:br>
              <a:r>
                <a:rPr dirty="0">
                  <a:latin typeface="Inter Light"/>
                </a:rPr>
                <a:t>- Review/Retro</a:t>
              </a:r>
            </a:p>
          </p:txBody>
        </p:sp>
        <p:sp>
          <p:nvSpPr>
            <p:cNvPr id="12" name="Block Arc 11"/>
            <p:cNvSpPr/>
            <p:nvPr/>
          </p:nvSpPr>
          <p:spPr>
            <a:xfrm rot="5400000">
              <a:off x="6969316" y="2011680"/>
              <a:ext cx="2560320" cy="2560320"/>
            </a:xfrm>
            <a:prstGeom prst="blockArc">
              <a:avLst/>
            </a:prstGeom>
            <a:solidFill>
              <a:srgbClr val="0078D4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758785" y="2926080"/>
              <a:ext cx="981381" cy="27699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200" b="1"/>
              </a:pPr>
              <a:r>
                <a:rPr dirty="0">
                  <a:latin typeface="Inter Light"/>
                </a:rPr>
                <a:t>SPRINT </a:t>
              </a:r>
              <a:r>
                <a:rPr lang="en-IN" dirty="0">
                  <a:latin typeface="Inter Light"/>
                </a:rPr>
                <a:t>15</a:t>
              </a:r>
              <a:endParaRPr dirty="0">
                <a:latin typeface="Inter Light"/>
              </a:endParaRPr>
            </a:p>
          </p:txBody>
        </p:sp>
        <p:sp>
          <p:nvSpPr>
            <p:cNvPr id="15" name="Chevron 14"/>
            <p:cNvSpPr/>
            <p:nvPr/>
          </p:nvSpPr>
          <p:spPr>
            <a:xfrm>
              <a:off x="2351594" y="4114800"/>
              <a:ext cx="914400" cy="365760"/>
            </a:xfrm>
            <a:prstGeom prst="chevron">
              <a:avLst/>
            </a:prstGeom>
            <a:solidFill>
              <a:srgbClr val="43A047"/>
            </a:solidFill>
            <a:ln>
              <a:solidFill>
                <a:srgbClr val="0D213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Chevron 15"/>
            <p:cNvSpPr/>
            <p:nvPr/>
          </p:nvSpPr>
          <p:spPr>
            <a:xfrm>
              <a:off x="4941730" y="4114800"/>
              <a:ext cx="1645920" cy="365760"/>
            </a:xfrm>
            <a:prstGeom prst="chevron">
              <a:avLst/>
            </a:prstGeom>
            <a:solidFill>
              <a:srgbClr val="43A047"/>
            </a:solidFill>
            <a:ln>
              <a:solidFill>
                <a:srgbClr val="0D213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Chevron 16"/>
            <p:cNvSpPr/>
            <p:nvPr/>
          </p:nvSpPr>
          <p:spPr>
            <a:xfrm>
              <a:off x="7700835" y="4114800"/>
              <a:ext cx="2377440" cy="365760"/>
            </a:xfrm>
            <a:prstGeom prst="chevron">
              <a:avLst/>
            </a:prstGeom>
            <a:solidFill>
              <a:srgbClr val="43A047"/>
            </a:solidFill>
            <a:ln>
              <a:solidFill>
                <a:srgbClr val="0D213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Pentagon 17"/>
            <p:cNvSpPr/>
            <p:nvPr/>
          </p:nvSpPr>
          <p:spPr>
            <a:xfrm>
              <a:off x="10119038" y="2011680"/>
              <a:ext cx="1828800" cy="2560320"/>
            </a:xfrm>
            <a:prstGeom prst="homePlate">
              <a:avLst/>
            </a:prstGeom>
            <a:solidFill>
              <a:srgbClr val="0D2137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b="1">
                  <a:solidFill>
                    <a:srgbClr val="FFFFFF"/>
                  </a:solidFill>
                </a:defRPr>
              </a:pPr>
              <a:r>
                <a:rPr lang="en-IN" dirty="0">
                  <a:latin typeface="Inter Light"/>
                </a:rPr>
                <a:t>Pilot Release </a:t>
              </a:r>
            </a:p>
            <a:p>
              <a:pPr algn="ctr">
                <a:defRPr b="1">
                  <a:solidFill>
                    <a:srgbClr val="FFFFFF"/>
                  </a:solidFill>
                </a:defRPr>
              </a:pPr>
              <a:r>
                <a:rPr lang="en-IN" dirty="0">
                  <a:latin typeface="Inter Light"/>
                </a:rPr>
                <a:t>January 2027</a:t>
              </a:r>
              <a:endParaRPr dirty="0">
                <a:latin typeface="Inter Light"/>
              </a:endParaRPr>
            </a:p>
          </p:txBody>
        </p:sp>
        <p:sp>
          <p:nvSpPr>
            <p:cNvPr id="19" name="Right Arrow 18"/>
            <p:cNvSpPr/>
            <p:nvPr/>
          </p:nvSpPr>
          <p:spPr>
            <a:xfrm>
              <a:off x="1463040" y="3183506"/>
              <a:ext cx="548640" cy="365760"/>
            </a:xfrm>
            <a:prstGeom prst="rightArrow">
              <a:avLst/>
            </a:prstGeom>
            <a:solidFill>
              <a:srgbClr val="0078D4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F6E1D24-87ED-DD31-13C8-2F2FF96022D8}"/>
                </a:ext>
              </a:extLst>
            </p:cNvPr>
            <p:cNvSpPr txBox="1"/>
            <p:nvPr/>
          </p:nvSpPr>
          <p:spPr>
            <a:xfrm>
              <a:off x="6552211" y="3093390"/>
              <a:ext cx="130302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200" b="1"/>
              </a:pPr>
              <a:r>
                <a:rPr lang="en-IN" sz="2800" dirty="0"/>
                <a:t>……….</a:t>
              </a:r>
              <a:endParaRPr sz="28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5515584-701E-EE4C-3B6E-493C9947831E}"/>
                </a:ext>
              </a:extLst>
            </p:cNvPr>
            <p:cNvSpPr txBox="1"/>
            <p:nvPr/>
          </p:nvSpPr>
          <p:spPr>
            <a:xfrm>
              <a:off x="8016286" y="4656806"/>
              <a:ext cx="956948" cy="46166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800"/>
              </a:pPr>
              <a:r>
                <a:rPr dirty="0">
                  <a:latin typeface="Inter Light"/>
                </a:rPr>
                <a:t>- Planning</a:t>
              </a:r>
              <a:br>
                <a:rPr dirty="0">
                  <a:latin typeface="Inter Light"/>
                </a:rPr>
              </a:br>
              <a:r>
                <a:rPr dirty="0">
                  <a:latin typeface="Inter Light"/>
                </a:rPr>
                <a:t>- Daily Standup</a:t>
              </a:r>
              <a:br>
                <a:rPr dirty="0">
                  <a:latin typeface="Inter Light"/>
                </a:rPr>
              </a:br>
              <a:r>
                <a:rPr dirty="0">
                  <a:latin typeface="Inter Light"/>
                </a:rPr>
                <a:t>- Review/Retro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137"/>
                </a:solidFill>
              </a:defRPr>
            </a:pPr>
            <a:r>
              <a:t>Project Governance: Managing Constraints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64177CC-DFD8-201F-FF83-110C7CD70B55}"/>
              </a:ext>
            </a:extLst>
          </p:cNvPr>
          <p:cNvGrpSpPr/>
          <p:nvPr/>
        </p:nvGrpSpPr>
        <p:grpSpPr>
          <a:xfrm>
            <a:off x="1316934" y="1371600"/>
            <a:ext cx="10204505" cy="4114800"/>
            <a:chOff x="457200" y="1371600"/>
            <a:chExt cx="11064240" cy="411480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371600"/>
              <a:ext cx="5303520" cy="18288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0078D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200">
                <a:latin typeface="Inter Light"/>
              </a:endParaRP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640080" y="1554480"/>
              <a:ext cx="3837910" cy="73866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200" b="1">
                  <a:solidFill>
                    <a:srgbClr val="0078D4"/>
                  </a:solidFill>
                </a:defRPr>
              </a:pPr>
              <a:r>
                <a:rPr dirty="0">
                  <a:latin typeface="Inter Light"/>
                </a:rPr>
                <a:t>RISK MANAGEMENT</a:t>
              </a:r>
            </a:p>
            <a:p>
              <a:pPr>
                <a:defRPr sz="1000"/>
              </a:pPr>
              <a:r>
                <a:rPr dirty="0">
                  <a:latin typeface="Inter Light"/>
                </a:rPr>
                <a:t>- Empirical Process Control: Transparency, Inspection, and Adaptation.</a:t>
              </a:r>
              <a:br>
                <a:rPr dirty="0">
                  <a:latin typeface="Inter Light"/>
                </a:rPr>
              </a:br>
              <a:r>
                <a:rPr dirty="0">
                  <a:latin typeface="Inter Light"/>
                </a:rPr>
                <a:t>- Early Failure Detection: Technical risks identified during 'Sprint 0'.</a:t>
              </a:r>
              <a:br>
                <a:rPr dirty="0">
                  <a:latin typeface="Inter Light"/>
                </a:rPr>
              </a:br>
              <a:r>
                <a:rPr dirty="0">
                  <a:latin typeface="Inter Light"/>
                </a:rPr>
                <a:t>- Regular Stakeholder Feedback: Bi-weekly demos with JA Team.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6217920" y="1371600"/>
              <a:ext cx="5303520" cy="18288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0078D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200">
                <a:latin typeface="Inter Light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400800" y="1554480"/>
              <a:ext cx="3855543" cy="73866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200" b="1">
                  <a:solidFill>
                    <a:srgbClr val="0078D4"/>
                  </a:solidFill>
                </a:defRPr>
              </a:pPr>
              <a:r>
                <a:rPr dirty="0">
                  <a:latin typeface="Inter Light"/>
                </a:rPr>
                <a:t>SCHEDULE CONTROL</a:t>
              </a:r>
            </a:p>
            <a:p>
              <a:pPr>
                <a:defRPr sz="1000"/>
              </a:pPr>
              <a:r>
                <a:rPr dirty="0">
                  <a:latin typeface="Inter Light"/>
                </a:rPr>
                <a:t>- Time-Boxing: Fixed durations (12 months) with hard Sprint deadlines.</a:t>
              </a:r>
              <a:br>
                <a:rPr dirty="0">
                  <a:latin typeface="Inter Light"/>
                </a:rPr>
              </a:br>
              <a:r>
                <a:rPr dirty="0">
                  <a:latin typeface="Inter Light"/>
                </a:rPr>
                <a:t>- Burndown Charts: Real-time tracking of development velocity.</a:t>
              </a:r>
              <a:br>
                <a:rPr dirty="0">
                  <a:latin typeface="Inter Light"/>
                </a:rPr>
              </a:br>
              <a:r>
                <a:rPr dirty="0">
                  <a:latin typeface="Inter Light"/>
                </a:rPr>
                <a:t>- Predictable Cadence: Consistent release cycles for testing.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457200" y="3657600"/>
              <a:ext cx="5303520" cy="18288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0078D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200">
                <a:latin typeface="Inter Light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40080" y="3840480"/>
              <a:ext cx="4246675" cy="73866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200" b="1">
                  <a:solidFill>
                    <a:srgbClr val="0078D4"/>
                  </a:solidFill>
                </a:defRPr>
              </a:pPr>
              <a:r>
                <a:rPr dirty="0">
                  <a:latin typeface="Inter Light"/>
                </a:rPr>
                <a:t>COST MANAGEMENT</a:t>
              </a:r>
            </a:p>
            <a:p>
              <a:pPr>
                <a:defRPr sz="1000"/>
              </a:pPr>
              <a:r>
                <a:rPr dirty="0">
                  <a:latin typeface="Inter Light"/>
                </a:rPr>
                <a:t>- $1M Budget Adherence: Agile prioritization ensures high-value features first.</a:t>
              </a:r>
              <a:br>
                <a:rPr dirty="0">
                  <a:latin typeface="Inter Light"/>
                </a:rPr>
              </a:br>
              <a:r>
                <a:rPr dirty="0">
                  <a:latin typeface="Inter Light"/>
                </a:rPr>
                <a:t>- No Waste: Focus on validated requirements prevents over-engineering.</a:t>
              </a:r>
              <a:br>
                <a:rPr dirty="0">
                  <a:latin typeface="Inter Light"/>
                </a:rPr>
              </a:br>
              <a:r>
                <a:rPr dirty="0">
                  <a:latin typeface="Inter Light"/>
                </a:rPr>
                <a:t>- Resource Efficiency: Cross-functional team minimizes delays.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217920" y="3657600"/>
              <a:ext cx="5303520" cy="18288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0078D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200">
                <a:latin typeface="Inter Light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400800" y="3840480"/>
              <a:ext cx="3895618" cy="73866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200" b="1">
                  <a:solidFill>
                    <a:srgbClr val="0078D4"/>
                  </a:solidFill>
                </a:defRPr>
              </a:pPr>
              <a:r>
                <a:rPr>
                  <a:latin typeface="Inter Light"/>
                </a:rPr>
                <a:t>TIME CONTROL</a:t>
              </a:r>
            </a:p>
            <a:p>
              <a:pPr>
                <a:defRPr sz="1000"/>
              </a:pPr>
              <a:r>
                <a:rPr>
                  <a:latin typeface="Inter Light"/>
                </a:rPr>
                <a:t>- Sprints: 2-week focus cycles prevent scope creep.</a:t>
              </a:r>
              <a:br>
                <a:rPr>
                  <a:latin typeface="Inter Light"/>
                </a:rPr>
              </a:br>
              <a:r>
                <a:rPr>
                  <a:latin typeface="Inter Light"/>
                </a:rPr>
                <a:t>- Daily Scrum: 15-min resets ensure blockers are removed immediately.</a:t>
              </a:r>
              <a:br>
                <a:rPr>
                  <a:latin typeface="Inter Light"/>
                </a:rPr>
              </a:br>
              <a:r>
                <a:rPr>
                  <a:latin typeface="Inter Light"/>
                </a:rPr>
                <a:t>- Definition of Done: Prevents '99% complete' syndrome.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426</Words>
  <Application>Microsoft Office PowerPoint</Application>
  <PresentationFormat>Custom</PresentationFormat>
  <Paragraphs>96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Inter Light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Venkata Parasa</cp:lastModifiedBy>
  <cp:revision>7</cp:revision>
  <dcterms:created xsi:type="dcterms:W3CDTF">2013-01-27T09:14:16Z</dcterms:created>
  <dcterms:modified xsi:type="dcterms:W3CDTF">2026-04-13T15:37:09Z</dcterms:modified>
  <cp:category/>
</cp:coreProperties>
</file>