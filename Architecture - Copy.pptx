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12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015" y="91440"/>
            <a:ext cx="43529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rPr dirty="0"/>
              <a:t>JA BizTown 3.0 — Solution Architecture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9EF202A-59AE-0CE9-2235-E4AB9180FAC6}"/>
              </a:ext>
            </a:extLst>
          </p:cNvPr>
          <p:cNvGrpSpPr/>
          <p:nvPr/>
        </p:nvGrpSpPr>
        <p:grpSpPr>
          <a:xfrm>
            <a:off x="182880" y="548640"/>
            <a:ext cx="11823192" cy="6217920"/>
            <a:chOff x="182880" y="548640"/>
            <a:chExt cx="11823192" cy="6217920"/>
          </a:xfrm>
        </p:grpSpPr>
        <p:sp>
          <p:nvSpPr>
            <p:cNvPr id="3" name="Rounded Rectangle 2"/>
            <p:cNvSpPr/>
            <p:nvPr/>
          </p:nvSpPr>
          <p:spPr>
            <a:xfrm>
              <a:off x="182880" y="548640"/>
              <a:ext cx="11823192" cy="1097280"/>
            </a:xfrm>
            <a:prstGeom prst="roundRect">
              <a:avLst/>
            </a:prstGeom>
            <a:solidFill>
              <a:srgbClr val="E3F2FD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4320" y="59436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CLIENT &amp; DEVICE LAYER | REACT NATIVE · EXPO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6576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576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JA Student Tablet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React Native + Expo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2880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2880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Volunteer Tablet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Unified POS UI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29184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9184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Teacher Tablet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Monitoring Hub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75488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5488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App Distribution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MDM / Store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1792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1792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i18next + XLF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Offline Discovery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8096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68096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IndexedDB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SQLite Cache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4400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Offline Queue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FIFO Sync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607040" y="777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07040" y="86868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Lottie Animation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Offline Assets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82880" y="1737360"/>
              <a:ext cx="11823192" cy="1097280"/>
            </a:xfrm>
            <a:prstGeom prst="roundRect">
              <a:avLst/>
            </a:prstGeom>
            <a:solidFill>
              <a:srgbClr val="FFF3E0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4320" y="178308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PERIMETER SECURITY | ENTRA B2C · KEY VAULT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6576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576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Front Door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Global Entry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2880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82880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WAF (OWASP)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Threat Filtering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29184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9184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Microsoft Entra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QR/PIN Auth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75488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5488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Azure Key Vault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Secrets / CMK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1792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1792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APIM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Rate Limiting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68096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8096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Policy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RBAC Rules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14400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14400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DevOps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CI/CD Pipeline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607040" y="1965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607040" y="2057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Monitor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30-Day Retention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82880" y="2926080"/>
              <a:ext cx="11823192" cy="1097280"/>
            </a:xfrm>
            <a:prstGeom prst="roundRect">
              <a:avLst/>
            </a:prstGeom>
            <a:solidFill>
              <a:srgbClr val="E3F2FD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4320" y="297180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COMPUTE LAYER | AKS · FUNCTIONS · SIGNALR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6576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6576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Microsoft AKS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Microservices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01168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1168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Azure Functions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Serverless Reconciliation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65760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65760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SignalR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Real-time Push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30352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0352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Service Bus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Event Queue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949440" y="3154680"/>
              <a:ext cx="1280160" cy="822960"/>
            </a:xfrm>
            <a:prstGeom prst="rect">
              <a:avLst/>
            </a:prstGeom>
            <a:solidFill>
              <a:srgbClr val="E1F5FE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4944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Azure Event Hubs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High-Scale Ingestion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59536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9536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CDN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Media Delivery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241280" y="315468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78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241280" y="324612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rPr dirty="0"/>
                <a:t>Azure Logic App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rPr dirty="0"/>
                <a:t>Workflows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182880" y="4114800"/>
              <a:ext cx="11823192" cy="1005840"/>
            </a:xfrm>
            <a:prstGeom prst="roundRect">
              <a:avLst/>
            </a:prstGeom>
            <a:solidFill>
              <a:srgbClr val="EDE7F6"/>
            </a:solidFill>
            <a:ln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74320" y="416052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AI INNOVATION LAYER | GEN AI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4800" y="4251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114800" y="4343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OpenAI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GPT-4o Slogans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577840" y="4251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577840" y="4343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DALL-E 3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Banner Generation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040880" y="425196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040880" y="4343400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App Insights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AI Telemetry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82880" y="5212080"/>
              <a:ext cx="11823192" cy="1005840"/>
            </a:xfrm>
            <a:prstGeom prst="roundRect">
              <a:avLst/>
            </a:prstGeom>
            <a:solidFill>
              <a:srgbClr val="FFEBEE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74320" y="525780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DATA &amp; CONTENT LAYER | SQL · CMS · BLOB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14400" y="5349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440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SQL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Simulation Ledger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560320" y="5349240"/>
              <a:ext cx="1280160" cy="822960"/>
            </a:xfrm>
            <a:prstGeom prst="rect">
              <a:avLst/>
            </a:prstGeom>
            <a:solidFill>
              <a:srgbClr val="FFEBEE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56032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CMS Database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Headless Backend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206240" y="5349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20624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Blob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Media Assets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852160" y="5349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85216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Azure Redis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Live Cache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498079" y="5349240"/>
              <a:ext cx="1280160" cy="822960"/>
            </a:xfrm>
            <a:prstGeom prst="rect">
              <a:avLst/>
            </a:prstGeom>
            <a:solidFill>
              <a:srgbClr val="FFEBEE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98079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Headless CMS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Content Layouts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9144000" y="5349240"/>
              <a:ext cx="1280160" cy="822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854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44000" y="5440679"/>
              <a:ext cx="12801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1"/>
              </a:pPr>
              <a:r>
                <a:t>SQL Geo-Rep</a:t>
              </a:r>
            </a:p>
            <a:p>
              <a:pPr algn="ctr">
                <a:defRPr sz="700">
                  <a:solidFill>
                    <a:srgbClr val="505050"/>
                  </a:solidFill>
                </a:defRPr>
              </a:pPr>
              <a:r>
                <a:t>DR Support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82880" y="6309360"/>
              <a:ext cx="11823192" cy="457200"/>
            </a:xfrm>
            <a:prstGeom prst="roundRect">
              <a:avLst/>
            </a:prstGeom>
            <a:solidFill>
              <a:srgbClr val="F1F8E9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74320" y="635508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0D2137"/>
                  </a:solidFill>
                </a:defRPr>
              </a:pPr>
              <a:r>
                <a:t>OBSERVABILITY &amp; COMPLIANCE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114800" y="6400800"/>
              <a:ext cx="1463040" cy="3200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/>
              </a:pPr>
              <a:r>
                <a:rPr dirty="0"/>
                <a:t>Azure Monitor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760720" y="6400800"/>
              <a:ext cx="1463040" cy="3200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/>
              </a:pPr>
              <a:r>
                <a:rPr dirty="0"/>
                <a:t>Log Analytics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406640" y="6400800"/>
              <a:ext cx="1463040" cy="3200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/>
              </a:pPr>
              <a:r>
                <a:rPr dirty="0"/>
                <a:t>COPPA Aligned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9052560" y="6400800"/>
              <a:ext cx="1463040" cy="3200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3A0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00" b="1"/>
              </a:pPr>
              <a:r>
                <a:rPr dirty="0"/>
                <a:t>FERPA Aligned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137"/>
                </a:solidFill>
              </a:defRPr>
            </a:pPr>
            <a:r>
              <a:t>The Agile Scrum Framework — Iterative Development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2286000"/>
            <a:ext cx="1280160" cy="914400"/>
          </a:xfrm>
          <a:prstGeom prst="roundRect">
            <a:avLst/>
          </a:prstGeom>
          <a:solidFill>
            <a:srgbClr val="E3F2FD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2137"/>
                </a:solidFill>
              </a:defRPr>
            </a:pPr>
            <a:r>
              <a:t>VISION &amp;</a:t>
            </a:r>
            <a:br/>
            <a:r>
              <a:t>STAKEHOLDERS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508760" y="2560320"/>
            <a:ext cx="548640" cy="365760"/>
          </a:xfrm>
          <a:prstGeom prst="rightArrow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03120" y="2286000"/>
            <a:ext cx="1280160" cy="914400"/>
          </a:xfrm>
          <a:prstGeom prst="roundRect">
            <a:avLst/>
          </a:prstGeom>
          <a:solidFill>
            <a:srgbClr val="E3F2FD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2137"/>
                </a:solidFill>
              </a:defRPr>
            </a:pPr>
            <a:r>
              <a:rPr dirty="0"/>
              <a:t>RELEASE</a:t>
            </a:r>
            <a:br>
              <a:rPr dirty="0"/>
            </a:br>
            <a:r>
              <a:rPr dirty="0"/>
              <a:t>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128016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D2137"/>
                </a:solidFill>
              </a:defRPr>
            </a:pPr>
            <a:r>
              <a:rPr dirty="0"/>
              <a:t>PRODUCT</a:t>
            </a:r>
            <a:br>
              <a:rPr dirty="0"/>
            </a:br>
            <a:r>
              <a:rPr dirty="0"/>
              <a:t>BACKLOG</a:t>
            </a:r>
            <a:br>
              <a:rPr dirty="0"/>
            </a:br>
            <a:r>
              <a:rPr dirty="0"/>
              <a:t>(Prioritized Features)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114800"/>
            <a:ext cx="1280160" cy="731520"/>
          </a:xfrm>
          <a:prstGeom prst="roundRect">
            <a:avLst/>
          </a:prstGeom>
          <a:solidFill>
            <a:srgbClr val="E3F2FD"/>
          </a:solidFill>
          <a:ln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2137"/>
                </a:solidFill>
              </a:defRPr>
            </a:pPr>
            <a:r>
              <a:rPr dirty="0"/>
              <a:t>SPRINT</a:t>
            </a:r>
            <a:br>
              <a:rPr dirty="0"/>
            </a:br>
            <a:r>
              <a:rPr dirty="0"/>
              <a:t>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4114800"/>
            <a:ext cx="1280160" cy="731520"/>
          </a:xfrm>
          <a:prstGeom prst="roundRect">
            <a:avLst/>
          </a:prstGeom>
          <a:solidFill>
            <a:srgbClr val="FFF3E0"/>
          </a:solidFill>
          <a:ln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D2137"/>
                </a:solidFill>
              </a:defRPr>
            </a:pPr>
            <a:r>
              <a:t>SPRINT</a:t>
            </a:r>
            <a:br/>
            <a:r>
              <a:t>BACKLOG</a:t>
            </a:r>
          </a:p>
        </p:txBody>
      </p:sp>
      <p:sp>
        <p:nvSpPr>
          <p:cNvPr id="9" name="Block Arc 8"/>
          <p:cNvSpPr/>
          <p:nvPr/>
        </p:nvSpPr>
        <p:spPr>
          <a:xfrm rot="5400000">
            <a:off x="6858000" y="2011680"/>
            <a:ext cx="2926080" cy="2926080"/>
          </a:xfrm>
          <a:prstGeom prst="blockArc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3108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THE SPRINT</a:t>
            </a:r>
            <a:br/>
            <a:r>
              <a:t>(2-Week Cycle)</a:t>
            </a:r>
          </a:p>
        </p:txBody>
      </p:sp>
      <p:sp>
        <p:nvSpPr>
          <p:cNvPr id="11" name="Block Arc 10"/>
          <p:cNvSpPr/>
          <p:nvPr/>
        </p:nvSpPr>
        <p:spPr>
          <a:xfrm>
            <a:off x="6770527" y="3103007"/>
            <a:ext cx="914400" cy="914400"/>
          </a:xfrm>
          <a:prstGeom prst="blockArc">
            <a:avLst/>
          </a:prstGeom>
          <a:solidFill>
            <a:srgbClr val="FF6D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6336" y="275215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Daily Standup</a:t>
            </a:r>
          </a:p>
        </p:txBody>
      </p:sp>
      <p:sp>
        <p:nvSpPr>
          <p:cNvPr id="13" name="Chevron 12"/>
          <p:cNvSpPr/>
          <p:nvPr/>
        </p:nvSpPr>
        <p:spPr>
          <a:xfrm>
            <a:off x="10058400" y="3108960"/>
            <a:ext cx="1828800" cy="731520"/>
          </a:xfrm>
          <a:prstGeom prst="chevron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PRODUCT</a:t>
            </a:r>
            <a:br/>
            <a:r>
              <a:t>INCREMENT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4114800"/>
            <a:ext cx="1828800" cy="548640"/>
          </a:xfrm>
          <a:prstGeom prst="roundRect">
            <a:avLst/>
          </a:prstGeom>
          <a:solidFill>
            <a:srgbClr val="E8F5E9"/>
          </a:solidFill>
          <a:ln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0D2137"/>
                </a:solidFill>
              </a:defRPr>
            </a:pPr>
            <a:r>
              <a:t>SPRINT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4846320"/>
            <a:ext cx="1828800" cy="548640"/>
          </a:xfrm>
          <a:prstGeom prst="roundRect">
            <a:avLst/>
          </a:prstGeom>
          <a:solidFill>
            <a:srgbClr val="E8F5E9"/>
          </a:solidFill>
          <a:ln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0D2137"/>
                </a:solidFill>
              </a:defRPr>
            </a:pPr>
            <a:r>
              <a:t>SPRINT RETRO</a:t>
            </a:r>
          </a:p>
        </p:txBody>
      </p:sp>
      <p:sp>
        <p:nvSpPr>
          <p:cNvPr id="16" name="Curved Left Arrow 15"/>
          <p:cNvSpPr/>
          <p:nvPr/>
        </p:nvSpPr>
        <p:spPr>
          <a:xfrm rot="10800000">
            <a:off x="4114800" y="5669280"/>
            <a:ext cx="6858000" cy="731520"/>
          </a:xfrm>
          <a:prstGeom prst="curvedLeftArrow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Iterative Feedback &amp; Continuous Adaptation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137"/>
                </a:solidFill>
              </a:defRPr>
            </a:pPr>
            <a:r>
              <a:t>Project Governance: Managing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RISK MANAGEMENT</a:t>
            </a:r>
          </a:p>
          <a:p>
            <a:pPr>
              <a:defRPr sz="1000"/>
            </a:pPr>
            <a:r>
              <a:t>• Empirical Process Control: Transparency, Inspection, and Adaptation.</a:t>
            </a:r>
            <a:br/>
            <a:r>
              <a:t>• Early Failure Detection: Technical risks identified during 'Sprint 0'.</a:t>
            </a:r>
            <a:br/>
            <a:r>
              <a:t>• Regular Stakeholder Feedback: Bi-weekly demos with JA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SCHEDULE CONTROL</a:t>
            </a:r>
          </a:p>
          <a:p>
            <a:pPr>
              <a:defRPr sz="1000"/>
            </a:pPr>
            <a:r>
              <a:t>• Time-Boxing: Fixed durations (12 months) with hard Sprint deadlines.</a:t>
            </a:r>
            <a:br/>
            <a:r>
              <a:t>• Burndown Charts: Real-time tracking of development velocity.</a:t>
            </a:r>
            <a:br/>
            <a:r>
              <a:t>• Predictable Cadence: Consistent release cycles for alpha/beta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COST MANAGEMENT</a:t>
            </a:r>
          </a:p>
          <a:p>
            <a:pPr>
              <a:defRPr sz="1000"/>
            </a:pPr>
            <a:r>
              <a:t>• $1M Budget Adherence: Agile prioritization ensures highest-value features are built first.</a:t>
            </a:r>
            <a:br/>
            <a:r>
              <a:t>• No Waste: Focus on validated requirements prevents over-engineering.</a:t>
            </a:r>
            <a:br/>
            <a:r>
              <a:t>• Resource Efficiency: Cross-functional team reduces handoff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TIME CONTROL</a:t>
            </a:r>
          </a:p>
          <a:p>
            <a:pPr>
              <a:defRPr sz="1000"/>
            </a:pPr>
            <a:r>
              <a:t>• Sprints: 2-week focus cycles prevent scope creep.</a:t>
            </a:r>
            <a:br/>
            <a:r>
              <a:t>• Daily Scrum: 15-min resets ensure blockers are removed immediately.</a:t>
            </a:r>
            <a:br/>
            <a:r>
              <a:t>• Definition of Done: Prevents '99% complete' syndrome.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414</Words>
  <Application>Microsoft Office PowerPoint</Application>
  <PresentationFormat>Custom</PresentationFormat>
  <Paragraphs>96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Parasa</cp:lastModifiedBy>
  <cp:revision>4</cp:revision>
  <dcterms:created xsi:type="dcterms:W3CDTF">2013-01-27T09:14:16Z</dcterms:created>
  <dcterms:modified xsi:type="dcterms:W3CDTF">2026-04-13T14:59:22Z</dcterms:modified>
  <cp:category/>
</cp:coreProperties>
</file>